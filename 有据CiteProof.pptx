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条数</c:f>
              <c:strCache>
                <c:ptCount val="1"/>
                <c:pt idx="0">
                  <c:v>条数</c:v>
                </c:pt>
              </c:strCache>
            </c:strRef>
          </c:tx>
          <c:spPr>
            <a:solidFill>
              <a:srgbClr val="007F8C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3263E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8E9B"/>
              </a:solidFill>
            </c:spPr>
          </c:dPt>
          <c:dPt>
            <c:idx val="2"/>
            <c:invertIfNegative val="0"/>
            <c:bubble3D val="0"/>
            <c:spPr>
              <a:solidFill>
                <a:srgbClr val="DA8A23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候选证据</c:v>
                </c:pt>
                <c:pt idx="1">
                  <c:v>定位通过</c:v>
                </c:pt>
                <c:pt idx="2">
                  <c:v>丢弃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</c:v>
                </c:pt>
                <c:pt idx="1">
                  <c:v>22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CE5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25" b="0" i="0" u="none" strike="noStrike" kern="1200" baseline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CE5EB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076e7057-5996-4e6e-b941-ba8a2fc0421b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今天汇报的是有据 CiteProof，一个面向研究生文献阅读与综述准备的本地 Web 应用。项目将多篇论文整理成可以逐格追溯的证据矩阵，把中文概括、英文原句、PDF 页码以及模型的支持度判断放在一起。接下来按使用需求、证据验证机制、真实界面和演示结果介绍。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C:/Users/李一豪/Documents/Codex/evidence-lit/README.md</a:t>
            </a:r>
          </a:p>
          <a:p>
            <a:r>
              <a:t>C:/Users/李一豪/Documents/Codex/evidence-lit/app/main.py</a:t>
            </a:r>
          </a:p>
          <a:p>
            <a:r>
              <a:t>C:/Users/李一豪/Documents/Codex/evidence-lit/data/cache/demo.json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的目标场景是研究生准备综述、开题和课题资料。阅读多篇论文时，真正影响后续写作的工作包括比较不同论文的方法与数据，检查概括是否有原文支持，以及在写作阶段重新找到出处。这里不对节省多少时间作未经验证的量化承诺。项目的具体价值是把这几项工作放到同一张矩阵中，并使出处可以直接查看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C:/Users/李一豪/Documents/Codex/evidence-lit/README.md</a:t>
            </a:r>
          </a:p>
          <a:p>
            <a:r>
              <a:t>C:/Users/李一豪/Documents/Codex/evidence-lit/app/models.py</a:t>
            </a:r>
          </a:p>
          <a:p>
            <a:r>
              <a:t>C:/Users/李一豪/Documents/Codex/evidence-lit/app/static/app.js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这是实际运行的首页。用户既可以输入中文或英文研究问题检索开放获取论文，也可以选择本地文件或上传 PDF。没有网络或没有模型密钥时，可以用离线演示读取已有的真实结果缓存。需要区分的是，离线缓存并不是实时推理，它只是复现之前保存的结果。本次截图没有使用原项目密钥，也没有发起新的联网模型调用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C:/Users/李一豪/Documents/Codex/evidence-lit/app/static/index.html</a:t>
            </a:r>
          </a:p>
          <a:p>
            <a:r>
              <a:t>C:/Users/李一豪/Documents/Codex/evidence-lit/app/static/app.js</a:t>
            </a:r>
          </a:p>
          <a:p>
            <a:r>
              <a:t>C:/Users/李一豪/Documents/Codex/evidence-lit/app/main.py</a:t>
            </a:r>
          </a:p>
          <a:p>
            <a:r>
              <a:t>C:/Users/李一豪/Documents/Codex/evidence-lit/README.md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整个流程可以分成四段。第一段获取论文，来源包括开放检索与本地 PDF。第二段按页解析文本，再让模型提出六字段概括与证据候选。第三段由程序定位真实原句，随后由模型判断原句对概括的支持程度。第四段把结果放进证据矩阵，提供跨论文综合及文件导出。页码和最终展示引文由服务端从解析文本中取得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C:/Users/李一豪/Documents/Codex/evidence-lit/app/services/pipeline.py</a:t>
            </a:r>
          </a:p>
          <a:p>
            <a:r>
              <a:t>C:/Users/李一豪/Documents/Codex/evidence-lit/app/services/matrix.py</a:t>
            </a:r>
          </a:p>
          <a:p>
            <a:r>
              <a:t>C:/Users/李一豪/Documents/Codex/evidence-lit/app/services/parse.py</a:t>
            </a:r>
          </a:p>
          <a:p>
            <a:r>
              <a:t>C:/Users/李一豪/Documents/Codex/evidence-lit/app/services/verify.py</a:t>
            </a:r>
          </a:p>
          <a:p>
            <a:r>
              <a:t>C:/Users/李一豪/Documents/Codex/evidence-lit/app/services/synthesize.py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字段分别回答研究解决什么问题、采用什么方法、使用什么数据、得到什么结论、存在哪些局限，以及代码数据是否公开。字段概括与证据覆盖是两种不同信息。当前实现可以显示一个非空概括，但这个字段不一定有通过校验的原句，用户点击后会收到缺少证据的提示。因此，字段完整率不能当作已验证的结论比例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C:/Users/李一豪/Documents/Codex/evidence-lit/app/models.py</a:t>
            </a:r>
          </a:p>
          <a:p>
            <a:r>
              <a:t>C:/Users/李一豪/Documents/Codex/evidence-lit/app/services/matrix.py</a:t>
            </a:r>
          </a:p>
          <a:p>
            <a:r>
              <a:t>C:/Users/李一豪/Documents/Codex/evidence-lit/app/static/app.js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程序先尝试精确匹配。如果空白、大小写、连字或连字符影响匹配，则尝试归一化匹配。前两级都失败时，可以用模型给出的短锚点定位，并由服务端扩出原句。最终 quote 都从实际页文本提取，page 是 PDF 的一基页序号，不一定等于论文印刷页码。歧义、无效锚点和疑似表格碎片会被拒绝，但这些规则仍依赖文字层质量。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C:/Users/李一豪/Documents/Codex/evidence-lit/app/services/verify.py</a:t>
            </a:r>
          </a:p>
          <a:p>
            <a:r>
              <a:t>C:/Users/李一豪/Documents/Codex/evidence-lit/app/services/matrix.py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这一页展示 RAG 论文结论的实际审计抽屉。模型没有给出完整提案句，只给出了短锚点。程序用锚点定位后扩出原文，回填第一页，并保留定位方式。页面可查看模型提案、锚点、服务端原句、比对方式、证据级别和语义判断。右边是展开上下文后的同一条证据，方便人工检查原句前后的条件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C:/Users/李一豪/Documents/Codex/evidence-lit/data/cache/demo.json</a:t>
            </a:r>
          </a:p>
          <a:p>
            <a:r>
              <a:t>C:/Users/李一豪/Documents/Codex/evidence-lit/app/services/verify.py</a:t>
            </a:r>
          </a:p>
          <a:p>
            <a:r>
              <a:t>C:/Users/李一豪/Documents/Codex/evidence-lit/app/static/app.js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HaluEval 的这个例子说明了为什么逐字定位后还需要语义复审。中文概括同时提到约 19.5% 的回答含幻觉、模型识别幻觉有困难，以及外部知识或推理有帮助。但是当前绑定的原句主要陈述 19.5% 这一发现。因此缓存把这条证据判为部分支持。这个判定来自模型自评，不是人工审核，也不是独立事实核查。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C:/Users/李一豪/Documents/Codex/evidence-lit/data/cache/demo.json</a:t>
            </a:r>
          </a:p>
          <a:p>
            <a:r>
              <a:t>C:/Users/李一豪/Documents/Codex/evidence-lit/app/services/entail.py</a:t>
            </a:r>
          </a:p>
          <a:p>
            <a:r>
              <a:t>C:/Users/李一豪/Documents/Codex/evidence-lit/app/services/matrix.py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系统没有前端构建框架，FastAPI 直接托管 HTML、CSS 和 JavaScript。后端将检索、PDF 获取、按页解析、抽取、校验和综合拆成服务模块。DeepSeek 通过 OpenAI 兼容接口完成模型任务。下载和解析阶段使用八路线程池，逐篇抽取阶段默认三路并发，并通过 job_id 轮询阶段进度。这里仅说明代码中存在的实现，不把 README 里的运行时间当作本次实测。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C:/Users/李一豪/Documents/Codex/evidence-lit/app/main.py</a:t>
            </a:r>
          </a:p>
          <a:p>
            <a:r>
              <a:t>C:/Users/李一豪/Documents/Codex/evidence-lit/app/services/pipeline.py</a:t>
            </a:r>
          </a:p>
          <a:p>
            <a:r>
              <a:t>C:/Users/李一豪/Documents/Codex/evidence-lit/app/services/matrix.py</a:t>
            </a:r>
          </a:p>
          <a:p>
            <a:r>
              <a:t>C:/Users/李一豪/Documents/Codex/evidence-lit/app/config.py</a:t>
            </a:r>
          </a:p>
          <a:p>
            <a:r>
              <a:t>C:/Users/李一豪/Documents/Codex/evidence-lit/requirements.txt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矩阵让五篇论文在同一组字段下并排展示。绿色标记表示有通过定位的引用，并不等价于语义上的完全支持。部分概括被长度限制截断，也存在没有绑定证据的字段。因此矩阵更适合提供比较入口，关键陈述还要进入详情抽屉检查。</a:t>
            </a:r>
          </a:p>
          <a:p>
            <a:r>
              <a:t>资料来源：C:/Users/李一豪/Documents/Codex/evidence-lit/data/cache/demo.json</a:t>
            </a:r>
          </a:p>
          <a:p>
            <a:r>
              <a:t>C:/Users/李一豪/Documents/Codex/evidence-lit/app/static/app.js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跨论文综合先收集各字段中已经定位通过的引用。模型只输出立场和 paper_id，服务端再从已验证证据中回填论文信息、原句和页码。当前缓存的六个字段全部为部分共识，没有强行给出分歧。多篇论文在不同数据集上各自报告方法有效，不足以证明它们在同一结论上达成一致或发生冲突。综合本身仍需研究者复核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C:/Users/李一豪/Documents/Codex/evidence-lit/app/services/synthesize.py</a:t>
            </a:r>
          </a:p>
          <a:p>
            <a:r>
              <a:t>C:/Users/李一豪/Documents/Codex/evidence-lit/data/cache/demo.json</a:t>
            </a:r>
          </a:p>
          <a:p>
            <a:r>
              <a:t>C:/Users/李一豪/Documents/Codex/evidence-lit/app/static/app.js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缓存共五篇论文，三十个字段中二十九个非空。二十五条候选证据中保留二十二条，三条丢弃，所以可追溯率是 22 除以 25，即 88%。语义复审中十二条支持、十条部分支持，支持率 12 除以 22，约 54.5%。本例二十二条均标为全文级证据。字段完整率是 29 除以 30，约 96.7%，其分母不是已验证的引用数量。缓存时间字段只覆盖矩阵构建，不用于端到端耗时声明。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C:/Users/李一豪/Documents/Codex/evidence-lit/data/cache/demo.json</a:t>
            </a:r>
          </a:p>
          <a:p>
            <a:r>
              <a:t>C:/Users/李一豪/Documents/Codex/evidence-lit/app/services/matrix.py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导出支持 CSV、XLSX 和 DOCX。CSV 与 XLSX 以一篇论文一行为主，包含六个字段、引用数及引用明细。DOCX 按论文分节，包含研究问题、生成时间、统计、字段和引用列表。需要客观说明的是，目前完整的六步审计轨迹和跨论文综合没有全部写入导出文件，导出更适合作为整理材料而不是已完成的正式综述。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C:/Users/李一豪/Documents/Codex/evidence-lit/app/services/export.py</a:t>
            </a:r>
          </a:p>
          <a:p>
            <a:r>
              <a:t>C:/Users/李一豪/Documents/Codex/evidence-lit/app/main.py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当前系统最需要继续改进的地方包括扫描 PDF 的 OCR、文字层复杂布局、中文开放检索来源以及模型判断的独立验证。代码和缓存还显示，个别字段概括会被截断，非空字段不一定有已通过定位的证据。建议优先增强字段证据覆盖提示和摘要完整性，然后补充人工标注评测，再考虑 OCR 和 PDF 页面高亮。这些方向还需要后续实现和评测。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C:/Users/李一豪/Documents/Codex/evidence-lit/README.md</a:t>
            </a:r>
          </a:p>
          <a:p>
            <a:r>
              <a:t>C:/Users/李一豪/Documents/Codex/evidence-lit/app/services/extract.py</a:t>
            </a:r>
          </a:p>
          <a:p>
            <a:r>
              <a:t>C:/Users/李一豪/Documents/Codex/evidence-lit/app/services/matrix.py</a:t>
            </a:r>
          </a:p>
          <a:p>
            <a:r>
              <a:t>C:/Users/李一豪/Documents/Codex/evidence-lit/app/services/parse.py</a:t>
            </a:r>
          </a:p>
          <a:p>
            <a:r>
              <a:t>C:/Users/李一豪/Documents/Codex/evidence-lit/data/cache/demo.json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有据 CiteProof 已经把检索、本地 PDF、六字段抽取、原文定位、语义复审、跨论文综合和导出串成一个可演示的本地应用。核心设计是把模型负责的概括和程序负责的原文定位分开，同时公开显示支持度与失败数量。当前五篇论文的缓存展示了二十二条可追溯证据，也揭示了语义部分支持、摘要截断等后续需要完善的问题。谢谢大家，欢迎讨论。</a:t>
            </a:r>
          </a:p>
          <a:p/>
          <a:p>
            <a:r>
              <a:t>资料来源（项目只读）：</a:t>
            </a:r>
          </a:p>
          <a:p>
            <a:r>
              <a:t>C:/Users/李一豪/Documents/Codex/evidence-lit/README.md</a:t>
            </a:r>
          </a:p>
          <a:p>
            <a:r>
              <a:t>C:/Users/李一豪/Documents/Codex/evidence-lit/app/services/pipeline.py</a:t>
            </a:r>
          </a:p>
          <a:p>
            <a:r>
              <a:t>C:/Users/李一豪/Documents/Codex/evidence-lit/data/cache/demo.json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 CiteProof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0">
              <a:solidFill>
                <a:srgbClr val="899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"/>
          <p:cNvSpPr>
            <a:spLocks noGrp="1"/>
          </p:cNvSpPr>
          <p:nvPr/>
        </p:nvSpPr>
        <p:spPr>
          <a:xfrm>
            <a:off x="609600" y="1514475"/>
            <a:ext cx="10287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可验证的文献证据矩阵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4"/>
          <p:cNvSpPr>
            <a:spLocks noGrp="1"/>
          </p:cNvSpPr>
          <p:nvPr/>
        </p:nvSpPr>
        <p:spPr>
          <a:xfrm>
            <a:off x="647700" y="255270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把文献概括与原文证据放在一起</a:t>
            </a:r>
            <a:endParaRPr sz="2250" b="0">
              <a:solidFill>
                <a:srgbClr val="AEBF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071" y="3476625"/>
            <a:ext cx="7919857" cy="2409825"/>
          </a:xfrm>
          <a:prstGeom prst="rect">
            <a:avLst/>
          </a:prstGeom>
        </p:spPr>
      </p:pic>
      <p:sp>
        <p:nvSpPr>
          <p:cNvPr id="6" name="text-5"/>
          <p:cNvSpPr>
            <a:spLocks noGrp="1"/>
          </p:cNvSpPr>
          <p:nvPr/>
        </p:nvSpPr>
        <p:spPr>
          <a:xfrm>
            <a:off x="647700" y="6305550"/>
            <a:ext cx="857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   2026 年 10 月</a:t>
            </a:r>
            <a:endParaRPr sz="1275" b="0">
              <a:solidFill>
                <a:srgbClr val="AEBF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6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文献综述中的证据核对需求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围绕“找论文、比论文、核对结论”组织阅读材料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8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62150"/>
          <a:ext cx="10972800" cy="3105152"/>
        </p:xfrm>
        <a:graphic>
          <a:graphicData uri="http://schemas.openxmlformats.org/drawingml/2006/table">
            <a:tbl>
              <a:tblPr/>
              <a:tblGrid>
                <a:gridCol w="2095500"/>
                <a:gridCol w="4000500"/>
                <a:gridCol w="4876800"/>
              </a:tblGrid>
              <a:tr h="7762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阅读任务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需要保留的信息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系统提供的结果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跨论文比较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同一维度下的不同研究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按六字段并排整理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 AI 概括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真实原句及其所在页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逐字定位与语义复审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准备综述材料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可再次核查的引用线索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带页码的矩阵与导出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"/>
          <p:cNvSpPr>
            <a:spLocks noGrp="1"/>
          </p:cNvSpPr>
          <p:nvPr/>
        </p:nvSpPr>
        <p:spPr>
          <a:xfrm>
            <a:off x="609600" y="55721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目标：减少来回查找出处的操作，让结论可检查</a:t>
            </a:r>
            <a:endParaRPr sz="21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10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一个研究问题，形成一张证据矩阵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1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中文交互界面，支持论文检索、本地 PDF 和离线演示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2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838" y="1914525"/>
            <a:ext cx="10956324" cy="3333750"/>
          </a:xfrm>
          <a:prstGeom prst="rect">
            <a:avLst/>
          </a:prstGeom>
        </p:spPr>
      </p:pic>
      <p:sp>
        <p:nvSpPr>
          <p:cNvPr id="5" name="text-13"/>
          <p:cNvSpPr>
            <a:spLocks noGrp="1"/>
          </p:cNvSpPr>
          <p:nvPr/>
        </p:nvSpPr>
        <p:spPr>
          <a:xfrm>
            <a:off x="609600" y="5619750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检索入口</a:t>
            </a:r>
            <a:endParaRPr sz="202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4"/>
          <p:cNvSpPr>
            <a:spLocks noGrp="1"/>
          </p:cNvSpPr>
          <p:nvPr/>
        </p:nvSpPr>
        <p:spPr>
          <a:xfrm>
            <a:off x="609600" y="60579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OpenAlex，结果不足时由 arXiv 补充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5"/>
          <p:cNvSpPr>
            <a:spLocks noGrp="1"/>
          </p:cNvSpPr>
          <p:nvPr/>
        </p:nvSpPr>
        <p:spPr>
          <a:xfrm>
            <a:off x="6715125" y="56197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本地与离线入口</a:t>
            </a:r>
            <a:endParaRPr sz="202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6"/>
          <p:cNvSpPr>
            <a:spLocks noGrp="1"/>
          </p:cNvSpPr>
          <p:nvPr/>
        </p:nvSpPr>
        <p:spPr>
          <a:xfrm>
            <a:off x="6715125" y="60579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上传已有 PDF，或读取演示缓存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-17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从论文输入到可核查结果的工作流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8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文本处理、模型提取和程序校验各自承担明确职责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9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0"/>
          <p:cNvSpPr>
            <a:spLocks noGrp="1"/>
          </p:cNvSpPr>
          <p:nvPr/>
        </p:nvSpPr>
        <p:spPr>
          <a:xfrm>
            <a:off x="609600" y="1943100"/>
            <a:ext cx="7143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1"/>
          <p:cNvSpPr>
            <a:spLocks noGrp="1"/>
          </p:cNvSpPr>
          <p:nvPr/>
        </p:nvSpPr>
        <p:spPr>
          <a:xfrm>
            <a:off x="1581150" y="19431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论文获取</a:t>
            </a:r>
            <a:endParaRPr sz="217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2"/>
          <p:cNvSpPr>
            <a:spLocks noGrp="1"/>
          </p:cNvSpPr>
          <p:nvPr/>
        </p:nvSpPr>
        <p:spPr>
          <a:xfrm>
            <a:off x="5429250" y="1943100"/>
            <a:ext cx="615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开放检索或本地 PDF</a:t>
            </a:r>
            <a:endParaRPr sz="195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3"/>
          <p:cNvSpPr>
            <a:spLocks noGrp="1"/>
          </p:cNvSpPr>
          <p:nvPr/>
        </p:nvSpPr>
        <p:spPr>
          <a:xfrm>
            <a:off x="5429250" y="2371725"/>
            <a:ext cx="6153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中文问题可转为英文检索词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4"/>
          <p:cNvSpPr>
            <a:spLocks noGrp="1"/>
          </p:cNvSpPr>
          <p:nvPr/>
        </p:nvSpPr>
        <p:spPr>
          <a:xfrm>
            <a:off x="609600" y="2990850"/>
            <a:ext cx="7143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5"/>
          <p:cNvSpPr>
            <a:spLocks noGrp="1"/>
          </p:cNvSpPr>
          <p:nvPr/>
        </p:nvSpPr>
        <p:spPr>
          <a:xfrm>
            <a:off x="1581150" y="299085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分页解析与抽取</a:t>
            </a:r>
            <a:endParaRPr sz="217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26"/>
          <p:cNvSpPr>
            <a:spLocks noGrp="1"/>
          </p:cNvSpPr>
          <p:nvPr/>
        </p:nvSpPr>
        <p:spPr>
          <a:xfrm>
            <a:off x="5429250" y="2990850"/>
            <a:ext cx="615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按页获取文本，抽取六字段</a:t>
            </a:r>
            <a:endParaRPr sz="195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27"/>
          <p:cNvSpPr>
            <a:spLocks noGrp="1"/>
          </p:cNvSpPr>
          <p:nvPr/>
        </p:nvSpPr>
        <p:spPr>
          <a:xfrm>
            <a:off x="5429250" y="3419475"/>
            <a:ext cx="6153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模型输出概括、提案与锚点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28"/>
          <p:cNvSpPr>
            <a:spLocks noGrp="1"/>
          </p:cNvSpPr>
          <p:nvPr/>
        </p:nvSpPr>
        <p:spPr>
          <a:xfrm>
            <a:off x="609600" y="4038600"/>
            <a:ext cx="7143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29"/>
          <p:cNvSpPr>
            <a:spLocks noGrp="1"/>
          </p:cNvSpPr>
          <p:nvPr/>
        </p:nvSpPr>
        <p:spPr>
          <a:xfrm>
            <a:off x="1581150" y="40386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证据校验与复审</a:t>
            </a:r>
            <a:endParaRPr sz="217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30"/>
          <p:cNvSpPr>
            <a:spLocks noGrp="1"/>
          </p:cNvSpPr>
          <p:nvPr/>
        </p:nvSpPr>
        <p:spPr>
          <a:xfrm>
            <a:off x="5429250" y="4038600"/>
            <a:ext cx="615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三级定位后进行语义判断</a:t>
            </a:r>
            <a:endParaRPr sz="195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31"/>
          <p:cNvSpPr>
            <a:spLocks noGrp="1"/>
          </p:cNvSpPr>
          <p:nvPr/>
        </p:nvSpPr>
        <p:spPr>
          <a:xfrm>
            <a:off x="5429250" y="4467225"/>
            <a:ext cx="6153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定位失败的证据候选被丢弃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32"/>
          <p:cNvSpPr>
            <a:spLocks noGrp="1"/>
          </p:cNvSpPr>
          <p:nvPr/>
        </p:nvSpPr>
        <p:spPr>
          <a:xfrm>
            <a:off x="609600" y="5086350"/>
            <a:ext cx="7143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33"/>
          <p:cNvSpPr>
            <a:spLocks noGrp="1"/>
          </p:cNvSpPr>
          <p:nvPr/>
        </p:nvSpPr>
        <p:spPr>
          <a:xfrm>
            <a:off x="1581150" y="508635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矩阵、综合与导出</a:t>
            </a:r>
            <a:endParaRPr sz="217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34"/>
          <p:cNvSpPr>
            <a:spLocks noGrp="1"/>
          </p:cNvSpPr>
          <p:nvPr/>
        </p:nvSpPr>
        <p:spPr>
          <a:xfrm>
            <a:off x="5429250" y="5086350"/>
            <a:ext cx="615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按字段比较，展开查看出处</a:t>
            </a:r>
            <a:endParaRPr sz="195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-35"/>
          <p:cNvSpPr>
            <a:spLocks noGrp="1"/>
          </p:cNvSpPr>
          <p:nvPr/>
        </p:nvSpPr>
        <p:spPr>
          <a:xfrm>
            <a:off x="5429250" y="5514975"/>
            <a:ext cx="6153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 CSV、XLSX 或 DOCX</a:t>
            </a:r>
            <a:endParaRPr sz="15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36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六个字段构成文献比较的统一框架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7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行对应论文，列对应研究维度，点击单元格查看证据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8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809750"/>
          <a:ext cx="10972800" cy="4067175"/>
        </p:xfrm>
        <a:graphic>
          <a:graphicData uri="http://schemas.openxmlformats.org/drawingml/2006/table">
            <a:tbl>
              <a:tblPr/>
              <a:tblGrid>
                <a:gridCol w="2000250"/>
                <a:gridCol w="4762500"/>
                <a:gridCol w="42100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核心问题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核查重点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研究问题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论文试图解决什么？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问题与适用范围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具体怎样解决？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方法名称和关键步骤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使用哪些数据和任务？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数据集、样本和条件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结论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报告了什么发现？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指标、比较对象与限定条件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局限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在哪些条件下受限？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失败情境和依赖条件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可复现性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代码、数据和设置是否公开？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公开链接及实验设置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39"/>
          <p:cNvSpPr>
            <a:spLocks noGrp="1"/>
          </p:cNvSpPr>
          <p:nvPr/>
        </p:nvSpPr>
        <p:spPr>
          <a:xfrm>
            <a:off x="609600" y="60864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非空概括与已验证引用分别统计</a:t>
            </a:r>
            <a:endParaRPr sz="1725" b="1">
              <a:solidFill>
                <a:srgbClr val="AD68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40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三级定位让证据回到 PDF 文本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41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按精确匹配、归一化匹配、锚点定位依次尝试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42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2028825"/>
          <a:ext cx="10972800" cy="2809876"/>
        </p:xfrm>
        <a:graphic>
          <a:graphicData uri="http://schemas.openxmlformats.org/drawingml/2006/table">
            <a:tbl>
              <a:tblPr/>
              <a:tblGrid>
                <a:gridCol w="2857500"/>
                <a:gridCol w="6000750"/>
                <a:gridCol w="2114550"/>
              </a:tblGrid>
              <a:tr h="7024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定位层级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程序执行的操作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演示缓存条数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精确匹配 exact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在分页文本中查找模型提案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归一化 normalized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统一大小写、空白与连字符后查找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锚点定位 anchored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定位短锚点，服务端扩出原句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3"/>
          <p:cNvSpPr>
            <a:spLocks noGrp="1"/>
          </p:cNvSpPr>
          <p:nvPr/>
        </p:nvSpPr>
        <p:spPr>
          <a:xfrm>
            <a:off x="609600" y="526732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展示原句和页码由服务端回填</a:t>
            </a:r>
            <a:endParaRPr sz="232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4"/>
          <p:cNvSpPr>
            <a:spLocks noGrp="1"/>
          </p:cNvSpPr>
          <p:nvPr/>
        </p:nvSpPr>
        <p:spPr>
          <a:xfrm>
            <a:off x="609600" y="58293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候选证据无法定位、存在歧义或疑似碎片时丢弃</a:t>
            </a:r>
            <a:endParaRPr sz="18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45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一条结论的审计轨迹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46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论文的结论示例，来自现有离线缓存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47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57375"/>
            <a:ext cx="3200400" cy="449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543" y="1714500"/>
            <a:ext cx="2749639" cy="4648200"/>
          </a:xfrm>
          <a:prstGeom prst="rect">
            <a:avLst/>
          </a:prstGeom>
        </p:spPr>
      </p:pic>
      <p:sp>
        <p:nvSpPr>
          <p:cNvPr id="6" name="text-48"/>
          <p:cNvSpPr>
            <a:spLocks noGrp="1"/>
          </p:cNvSpPr>
          <p:nvPr/>
        </p:nvSpPr>
        <p:spPr>
          <a:xfrm>
            <a:off x="4286250" y="20193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短锚点</a:t>
            </a:r>
            <a:endParaRPr sz="195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49"/>
          <p:cNvSpPr>
            <a:spLocks noGrp="1"/>
          </p:cNvSpPr>
          <p:nvPr/>
        </p:nvSpPr>
        <p:spPr>
          <a:xfrm>
            <a:off x="4286250" y="2457450"/>
            <a:ext cx="39243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the state of the art</a:t>
            </a:r>
            <a:endParaRPr sz="180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 three open domain QA tasks</a:t>
            </a:r>
            <a:endParaRPr sz="1800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0"/>
          <p:cNvSpPr>
            <a:spLocks noGrp="1"/>
          </p:cNvSpPr>
          <p:nvPr/>
        </p:nvSpPr>
        <p:spPr>
          <a:xfrm>
            <a:off x="4286250" y="3581400"/>
            <a:ext cx="390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原文定位结果</a:t>
            </a:r>
            <a:endParaRPr sz="195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1"/>
          <p:cNvSpPr>
            <a:spLocks noGrp="1"/>
          </p:cNvSpPr>
          <p:nvPr/>
        </p:nvSpPr>
        <p:spPr>
          <a:xfrm>
            <a:off x="4286250" y="4019550"/>
            <a:ext cx="3905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第 1 页</a:t>
            </a:r>
            <a:endParaRPr sz="202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锚点定位扩句</a:t>
            </a:r>
            <a:endParaRPr sz="202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全文级证据</a:t>
            </a:r>
            <a:endParaRPr sz="202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52"/>
          <p:cNvSpPr>
            <a:spLocks noGrp="1"/>
          </p:cNvSpPr>
          <p:nvPr/>
        </p:nvSpPr>
        <p:spPr>
          <a:xfrm>
            <a:off x="4286250" y="577215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原文句与周边文本一并保留</a:t>
            </a:r>
            <a:endParaRPr sz="16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53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找到原句之后，还要判断支持程度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4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引文可以真实存在，但只支撑概括中的一部分信息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5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6"/>
          <p:cNvSpPr>
            <a:spLocks noGrp="1"/>
          </p:cNvSpPr>
          <p:nvPr/>
        </p:nvSpPr>
        <p:spPr>
          <a:xfrm>
            <a:off x="609600" y="19431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中文概括（缓存）</a:t>
            </a:r>
            <a:endParaRPr sz="202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7"/>
          <p:cNvSpPr>
            <a:spLocks noGrp="1"/>
          </p:cNvSpPr>
          <p:nvPr/>
        </p:nvSpPr>
        <p:spPr>
          <a:xfrm>
            <a:off x="609600" y="24384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约 19.5% 回答含幻觉，现有 LLM 难以识别幻觉，</a:t>
            </a:r>
            <a:endParaRPr sz="232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但外部知识或推理步骤有帮助。</a:t>
            </a:r>
            <a:endParaRPr sz="2325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8"/>
          <p:cNvSpPr>
            <a:spLocks noGrp="1"/>
          </p:cNvSpPr>
          <p:nvPr/>
        </p:nvSpPr>
        <p:spPr>
          <a:xfrm>
            <a:off x="609600" y="36671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绑定原句：HaluEval，PDF 第 1 页</a:t>
            </a:r>
            <a:endParaRPr sz="180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9"/>
          <p:cNvSpPr>
            <a:spLocks noGrp="1"/>
          </p:cNvSpPr>
          <p:nvPr/>
        </p:nvSpPr>
        <p:spPr>
          <a:xfrm>
            <a:off x="609600" y="4200525"/>
            <a:ext cx="109728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“The empirical results suggest that ChatGPT is likely to generate</a:t>
            </a:r>
            <a:endParaRPr sz="187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hallucinated content related to specific topics by fabricating</a:t>
            </a:r>
            <a:endParaRPr sz="187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unverifiable information (i.e., about 19.5% responses).”</a:t>
            </a:r>
            <a:endParaRPr sz="187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0"/>
          <p:cNvSpPr>
            <a:spLocks noGrp="1"/>
          </p:cNvSpPr>
          <p:nvPr/>
        </p:nvSpPr>
        <p:spPr>
          <a:xfrm>
            <a:off x="609600" y="57531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模型判定：部分支持</a:t>
            </a:r>
            <a:endParaRPr sz="2250" b="1">
              <a:solidFill>
                <a:srgbClr val="AD68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1"/>
          <p:cNvSpPr>
            <a:spLocks noGrp="1"/>
          </p:cNvSpPr>
          <p:nvPr/>
        </p:nvSpPr>
        <p:spPr>
          <a:xfrm>
            <a:off x="5667375" y="584835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支持度需人工复核，不能当作正确率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2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系统实现与模块分工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3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后端与原生前端组成可在本地运行的 Web 应用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4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05000"/>
          <a:ext cx="10972800" cy="3457578"/>
        </p:xfrm>
        <a:graphic>
          <a:graphicData uri="http://schemas.openxmlformats.org/drawingml/2006/table">
            <a:tbl>
              <a:tblPr/>
              <a:tblGrid>
                <a:gridCol w="1809750"/>
                <a:gridCol w="4191000"/>
                <a:gridCol w="4972050"/>
              </a:tblGrid>
              <a:tr h="576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交互层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HTML / CSS / JavaScript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检索、矩阵、抽屉和主题切换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服务层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FastAPI / Uvicorn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接口、后台任务与进度轮询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文档处理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PyMuPDF，失败时 pypdf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分页、双栏文本与断行处理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模型与校验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DeepSeek 兼容接口 + Python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六字段抽取、定位、语义复审和综合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输出层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pandas / openpyxl / python-docx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导出表格、引用原句及页码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5"/>
          <p:cNvSpPr>
            <a:spLocks noGrp="1"/>
          </p:cNvSpPr>
          <p:nvPr/>
        </p:nvSpPr>
        <p:spPr>
          <a:xfrm>
            <a:off x="609600" y="5753100"/>
            <a:ext cx="5238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路准备线程池</a:t>
            </a:r>
            <a:endParaRPr sz="21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6"/>
          <p:cNvSpPr>
            <a:spLocks noGrp="1"/>
          </p:cNvSpPr>
          <p:nvPr/>
        </p:nvSpPr>
        <p:spPr>
          <a:xfrm>
            <a:off x="6715125" y="57531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 3 路逐篇抽取</a:t>
            </a:r>
            <a:endParaRPr sz="21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7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真实界面：五篇论文并排比较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8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RAG、HaluEval、FLARE、SelfCheckGPT、CRAG 的缓存结果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9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44" y="2028825"/>
            <a:ext cx="10958513" cy="3714750"/>
          </a:xfrm>
          <a:prstGeom prst="rect">
            <a:avLst/>
          </a:prstGeom>
        </p:spPr>
      </p:pic>
      <p:sp>
        <p:nvSpPr>
          <p:cNvPr id="5" name="text-70"/>
          <p:cNvSpPr>
            <a:spLocks noGrp="1"/>
          </p:cNvSpPr>
          <p:nvPr/>
        </p:nvSpPr>
        <p:spPr>
          <a:xfrm>
            <a:off x="609600" y="59626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统一字段，定位差异</a:t>
            </a:r>
            <a:endParaRPr sz="1950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1"/>
          <p:cNvSpPr>
            <a:spLocks noGrp="1"/>
          </p:cNvSpPr>
          <p:nvPr/>
        </p:nvSpPr>
        <p:spPr>
          <a:xfrm>
            <a:off x="5334000" y="59817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点击单元格后查看该字段原句、页码与支持度</a:t>
            </a:r>
            <a:endParaRPr sz="180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72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跨论文综合保留各方原文证据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3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按同一字段归纳共识、部分共识、分歧或证据不足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4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03" y="1809750"/>
            <a:ext cx="6660444" cy="4572000"/>
          </a:xfrm>
          <a:prstGeom prst="rect">
            <a:avLst/>
          </a:prstGeom>
        </p:spPr>
      </p:pic>
      <p:sp>
        <p:nvSpPr>
          <p:cNvPr id="5" name="text-75"/>
          <p:cNvSpPr>
            <a:spLocks noGrp="1"/>
          </p:cNvSpPr>
          <p:nvPr/>
        </p:nvSpPr>
        <p:spPr>
          <a:xfrm>
            <a:off x="8334375" y="215265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AD6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本例：部分共识</a:t>
            </a:r>
            <a:endParaRPr sz="2250" b="1">
              <a:solidFill>
                <a:srgbClr val="AD68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6"/>
          <p:cNvSpPr>
            <a:spLocks noGrp="1"/>
          </p:cNvSpPr>
          <p:nvPr/>
        </p:nvSpPr>
        <p:spPr>
          <a:xfrm>
            <a:off x="8334375" y="316230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各论文报告方法有效，</a:t>
            </a:r>
            <a:endParaRPr sz="202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但任务和评价指标不同。</a:t>
            </a:r>
            <a:endParaRPr sz="2025" b="0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7"/>
          <p:cNvSpPr>
            <a:spLocks noGrp="1"/>
          </p:cNvSpPr>
          <p:nvPr/>
        </p:nvSpPr>
        <p:spPr>
          <a:xfrm>
            <a:off x="8334375" y="4953000"/>
            <a:ext cx="3238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展开后可核对</a:t>
            </a:r>
            <a:endParaRPr sz="19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各组论文的原句和页码。</a:t>
            </a:r>
            <a:endParaRPr sz="19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-78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五篇论文的离线演示结果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9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仅描述 2026-10-18 保存的缓存，不代表通用性能或独立准确率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80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2133600"/>
          <a:ext cx="61912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-81"/>
          <p:cNvSpPr>
            <a:spLocks noGrp="1"/>
          </p:cNvSpPr>
          <p:nvPr/>
        </p:nvSpPr>
        <p:spPr>
          <a:xfrm>
            <a:off x="7620000" y="1952625"/>
            <a:ext cx="39624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88.0%</a:t>
            </a:r>
            <a:endParaRPr sz="39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82"/>
          <p:cNvSpPr>
            <a:spLocks noGrp="1"/>
          </p:cNvSpPr>
          <p:nvPr/>
        </p:nvSpPr>
        <p:spPr>
          <a:xfrm>
            <a:off x="7620000" y="2657475"/>
            <a:ext cx="396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可追溯率  22 / 25</a:t>
            </a:r>
            <a:endParaRPr sz="16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83"/>
          <p:cNvSpPr>
            <a:spLocks noGrp="1"/>
          </p:cNvSpPr>
          <p:nvPr/>
        </p:nvSpPr>
        <p:spPr>
          <a:xfrm>
            <a:off x="7620000" y="3305175"/>
            <a:ext cx="39624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54.5%</a:t>
            </a:r>
            <a:endParaRPr sz="39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84"/>
          <p:cNvSpPr>
            <a:spLocks noGrp="1"/>
          </p:cNvSpPr>
          <p:nvPr/>
        </p:nvSpPr>
        <p:spPr>
          <a:xfrm>
            <a:off x="7620000" y="4010025"/>
            <a:ext cx="396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支持率（模型判定）  12 / 22</a:t>
            </a:r>
            <a:endParaRPr sz="16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5"/>
          <p:cNvSpPr>
            <a:spLocks noGrp="1"/>
          </p:cNvSpPr>
          <p:nvPr/>
        </p:nvSpPr>
        <p:spPr>
          <a:xfrm>
            <a:off x="7620000" y="4657725"/>
            <a:ext cx="39624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96.7%</a:t>
            </a:r>
            <a:endParaRPr sz="39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86"/>
          <p:cNvSpPr>
            <a:spLocks noGrp="1"/>
          </p:cNvSpPr>
          <p:nvPr/>
        </p:nvSpPr>
        <p:spPr>
          <a:xfrm>
            <a:off x="7620000" y="5362575"/>
            <a:ext cx="396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字段完整率  29 / 30</a:t>
            </a:r>
            <a:endParaRPr sz="16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87"/>
          <p:cNvSpPr>
            <a:spLocks noGrp="1"/>
          </p:cNvSpPr>
          <p:nvPr/>
        </p:nvSpPr>
        <p:spPr>
          <a:xfrm>
            <a:off x="609600" y="59055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语义复审：支持 12 条，部分支持 10 条</a:t>
            </a:r>
            <a:endParaRPr sz="187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88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导出结果服务于后续综述整理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89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输出中文概括，同时保留引用原句和 PDF 页码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90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52625"/>
          <a:ext cx="10972800" cy="2428875"/>
        </p:xfrm>
        <a:graphic>
          <a:graphicData uri="http://schemas.openxmlformats.org/drawingml/2006/table">
            <a:tbl>
              <a:tblPr/>
              <a:tblGrid>
                <a:gridCol w="2476500"/>
                <a:gridCol w="4095750"/>
                <a:gridCol w="4400550"/>
              </a:tblGrid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格式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组织方式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适合的后续操作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CSV / XLSX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每篇论文一行，附引用明细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筛选、排序与自定义比较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DOCX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按论文分节，附概括与原句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整理开题或综述的阅读笔记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91"/>
          <p:cNvSpPr>
            <a:spLocks noGrp="1"/>
          </p:cNvSpPr>
          <p:nvPr/>
        </p:nvSpPr>
        <p:spPr>
          <a:xfrm>
            <a:off x="609600" y="49053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保留论文信息、六字段概括、引用原句与页码</a:t>
            </a:r>
            <a:endParaRPr sz="217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92"/>
          <p:cNvSpPr>
            <a:spLocks noGrp="1"/>
          </p:cNvSpPr>
          <p:nvPr/>
        </p:nvSpPr>
        <p:spPr>
          <a:xfrm>
            <a:off x="609600" y="5600700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完整审计轨迹与跨论文综合，目前主要在界面中查看</a:t>
            </a:r>
            <a:endParaRPr sz="1950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93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019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当前边界与下一步改进</a:t>
            </a:r>
            <a:endParaRPr sz="3300" b="1">
              <a:solidFill>
                <a:srgbClr val="1019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94"/>
          <p:cNvSpPr>
            <a:spLocks noGrp="1"/>
          </p:cNvSpPr>
          <p:nvPr/>
        </p:nvSpPr>
        <p:spPr>
          <a:xfrm>
            <a:off x="609600" y="11811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区分已经实现的能力与后续计划</a:t>
            </a:r>
            <a:endParaRPr sz="1725" b="0">
              <a:solidFill>
                <a:srgbClr val="53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95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7382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>
              <a:solidFill>
                <a:srgbClr val="7382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33575"/>
          <a:ext cx="10972800" cy="3409950"/>
        </p:xfrm>
        <a:graphic>
          <a:graphicData uri="http://schemas.openxmlformats.org/drawingml/2006/table">
            <a:tbl>
              <a:tblPr/>
              <a:tblGrid>
                <a:gridCol w="2524125"/>
                <a:gridCol w="4400550"/>
                <a:gridCol w="4048125"/>
              </a:tblGrid>
              <a:tr h="6819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当前边界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对使用的影响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后续方向（建议）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0192D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模型自评与小样本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支持度尚未经过独立人工验证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人工标注集与跨模型复核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PDF 文字层依赖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扫描件、表格和复杂版式受限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OCR 与页面定位高亮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摘要长度与证据覆盖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个别概括截断，部分字段缺少证据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完整性检查与覆盖提示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英文开放获取检索为主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中文论文主要通过本地上传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19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补充可用的中文开放来源</a:t>
                      </a:r>
                      <a:endParaRPr sz="1650" b="0">
                        <a:solidFill>
                          <a:srgbClr val="1019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-96"/>
          <p:cNvSpPr>
            <a:spLocks noGrp="1"/>
          </p:cNvSpPr>
          <p:nvPr/>
        </p:nvSpPr>
        <p:spPr>
          <a:xfrm>
            <a:off x="609600" y="57912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目前适合辅助阅读和核查，关键结论仍由研究者确认</a:t>
            </a:r>
            <a:endParaRPr sz="2025" b="1">
              <a:solidFill>
                <a:srgbClr val="007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97"/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让文献整理留下可检查的证据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98"/>
          <p:cNvSpPr>
            <a:spLocks noGrp="1"/>
          </p:cNvSpPr>
          <p:nvPr/>
        </p:nvSpPr>
        <p:spPr>
          <a:xfrm>
            <a:off x="11144250" y="6429375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99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899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99"/>
          <p:cNvSpPr>
            <a:spLocks noGrp="1"/>
          </p:cNvSpPr>
          <p:nvPr/>
        </p:nvSpPr>
        <p:spPr>
          <a:xfrm>
            <a:off x="609600" y="183832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程序定位真实原句</a:t>
            </a:r>
            <a:endParaRPr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00"/>
          <p:cNvSpPr>
            <a:spLocks noGrp="1"/>
          </p:cNvSpPr>
          <p:nvPr/>
        </p:nvSpPr>
        <p:spPr>
          <a:xfrm>
            <a:off x="609600" y="2838450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模型提出概括与语义判断</a:t>
            </a:r>
            <a:endParaRPr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01"/>
          <p:cNvSpPr>
            <a:spLocks noGrp="1"/>
          </p:cNvSpPr>
          <p:nvPr/>
        </p:nvSpPr>
        <p:spPr>
          <a:xfrm>
            <a:off x="609600" y="38385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研究者保留最终确认权</a:t>
            </a:r>
            <a:endParaRPr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02"/>
          <p:cNvSpPr>
            <a:spLocks noGrp="1"/>
          </p:cNvSpPr>
          <p:nvPr/>
        </p:nvSpPr>
        <p:spPr>
          <a:xfrm>
            <a:off x="609600" y="519112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篇演示论文    22 条可追溯引用</a:t>
            </a:r>
            <a:endParaRPr sz="2325" b="0">
              <a:solidFill>
                <a:srgbClr val="AEBF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03"/>
          <p:cNvSpPr>
            <a:spLocks noGrp="1"/>
          </p:cNvSpPr>
          <p:nvPr/>
        </p:nvSpPr>
        <p:spPr>
          <a:xfrm>
            <a:off x="609600" y="6019800"/>
            <a:ext cx="666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AEBF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</a:t>
            </a:r>
            <a:endParaRPr sz="1875" b="0">
              <a:solidFill>
                <a:srgbClr val="AEBF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WPS 演示</Application>
  <PresentationFormat>Converted Presentation</PresentationFormat>
  <Paragraphs>388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2026-10-19T13:04:28Z</dcterms:created>
  <dcterms:modified xsi:type="dcterms:W3CDTF">2026-10-19T13:04:28Z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8C09F8EBC1174A6CB32FFEDD4800493B_13</vt:lpwstr>
  </property>
  <property fmtid="{D5CDD505-2E9C-101B-9397-08002B2CF9AE}" pid="3" name="KSOProductBuildVer">
    <vt:lpwstr>2052-12.1.0.29161</vt:lpwstr>
  </property>
</Properties>
</file>